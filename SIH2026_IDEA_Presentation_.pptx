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91" r:id="rId3"/>
    <p:sldId id="281" r:id="rId5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9" d="100"/>
          <a:sy n="69" d="100"/>
        </p:scale>
        <p:origin x="756" y="72"/>
      </p:cViewPr>
      <p:guideLst>
        <p:guide orient="horz" pos="2178"/>
        <p:guide pos="393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75514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30945" y="110298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397941" y="224420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870" y="378460"/>
            <a:ext cx="8534400" cy="2022475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</a:t>
            </a:r>
            <a:r>
              <a:rPr lang="en-IN" alt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6</a:t>
            </a:r>
            <a:endParaRPr lang="en-IN" altLang="en-US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1102360"/>
            <a:ext cx="7334250" cy="6149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26037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Adaptive</a:t>
            </a:r>
            <a:r>
              <a:rPr lang="en-I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Path Planning &amp; Collision Avoidance for Autonomous Vehicles on Unstructured Indian Roads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Robotics and Drones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MargDarshak</a:t>
            </a:r>
            <a:endParaRPr lang="en-I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 descr="WhatsApp Image 2026-09-09 at 12.45.00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185" y="245110"/>
            <a:ext cx="2583815" cy="850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" y="-219710"/>
            <a:ext cx="10972800" cy="99885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fld>
            <a:endParaRPr lang="en-US" b="1" dirty="0" smtClean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altLang="en-US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SIH</a:t>
            </a:r>
            <a:endParaRPr lang="en-IN" altLang="en-US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62560" y="128905"/>
            <a:ext cx="3926840" cy="51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400" b="1">
                <a:latin typeface="Tw Cen MT Condensed" panose="020B0606020104020203" charset="0"/>
                <a:cs typeface="Tw Cen MT Condensed" panose="020B0606020104020203" charset="0"/>
              </a:rPr>
              <a:t>MargDarshak</a:t>
            </a:r>
            <a:endParaRPr lang="en-IN" altLang="en-US" sz="2400" b="1">
              <a:latin typeface="Tw Cen MT Condensed" panose="020B0606020104020203" charset="0"/>
              <a:cs typeface="Tw Cen MT Condensed" panose="020B0606020104020203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18745" y="81280"/>
            <a:ext cx="1688465" cy="564515"/>
          </a:xfrm>
          <a:prstGeom prst="ellipse">
            <a:avLst/>
          </a:prstGeom>
          <a:noFill/>
          <a:ln w="28575" cmpd="sng">
            <a:solidFill>
              <a:srgbClr val="32323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82880" y="771525"/>
            <a:ext cx="4199255" cy="1290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000" b="1">
                <a:latin typeface="Yu Gothic UI Semibold" panose="020B0700000000000000" charset="-128"/>
                <a:ea typeface="Yu Gothic UI Semibold" panose="020B0700000000000000" charset="-128"/>
              </a:rPr>
              <a:t>Problem Statement:</a:t>
            </a:r>
            <a:endParaRPr lang="en-IN" altLang="en-US" sz="2000" b="1">
              <a:latin typeface="Yu Gothic UI Semibold" panose="020B0700000000000000" charset="-128"/>
              <a:ea typeface="Yu Gothic UI Semibold" panose="020B0700000000000000" charset="-128"/>
            </a:endParaRPr>
          </a:p>
        </p:txBody>
      </p:sp>
      <p:sp>
        <p:nvSpPr>
          <p:cNvPr id="12" name="Flowchart: Alternate Process 11"/>
          <p:cNvSpPr/>
          <p:nvPr/>
        </p:nvSpPr>
        <p:spPr>
          <a:xfrm>
            <a:off x="250825" y="1231265"/>
            <a:ext cx="11854180" cy="1195070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just">
              <a:lnSpc>
                <a:spcPct val="130000"/>
              </a:lnSpc>
            </a:pP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India witnessed over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4.8 lakh road accidents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and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1.72 lakh deaths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in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202</a:t>
            </a:r>
            <a:r>
              <a:rPr lang="en-IN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4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alone</a:t>
            </a:r>
            <a:r>
              <a:rPr lang="en-IN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, 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nearly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20 lives lost every hour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, mostly on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unstructured roads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with no clear lanes,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chaotic mixed traffic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, and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unpredictable right-of-way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. Two-wheeler riders and pedestrians account for nearly two-thirds of these deaths, exposing the failure of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conventional autonomous systems 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built for orderly, lane-disciplined roads abroad. This calls for an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AI-driven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path-planning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and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collision-avoidance system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with robust perception,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real-time prediction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, and </a:t>
            </a:r>
            <a:r>
              <a:rPr lang="en-US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adaptive navigation</a:t>
            </a:r>
            <a:r>
              <a:rPr lang="en-IN" altLang="en-US" sz="1300" b="1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 </a:t>
            </a:r>
            <a:r>
              <a:rPr lang="en-US" altLang="en-US" sz="1300">
                <a:solidFill>
                  <a:schemeClr val="tx1"/>
                </a:solidFill>
                <a:latin typeface="Segoe UI Variable Small" charset="0"/>
                <a:ea typeface="Microsoft YaHei" panose="020B0503020204020204" charset="-122"/>
                <a:cs typeface="Segoe UI Variable Small" charset="0"/>
              </a:rPr>
              <a:t>built to survive the real chaos of Indian roads.</a:t>
            </a:r>
            <a:endParaRPr lang="en-US" altLang="en-US" sz="1300">
              <a:solidFill>
                <a:schemeClr val="tx1"/>
              </a:solidFill>
              <a:latin typeface="Segoe UI Variable Small" charset="0"/>
              <a:ea typeface="Microsoft YaHei" panose="020B0503020204020204" charset="-122"/>
              <a:cs typeface="Segoe UI Variable Small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208915" y="2413000"/>
            <a:ext cx="8935085" cy="648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000" b="1">
                <a:latin typeface="Yu Gothic UI Semibold" panose="020B0700000000000000" charset="-128"/>
                <a:ea typeface="Yu Gothic UI Semibold" panose="020B0700000000000000" charset="-128"/>
                <a:sym typeface="+mn-ea"/>
              </a:rPr>
              <a:t>Pain points:</a:t>
            </a:r>
            <a:endParaRPr lang="en-IN" altLang="en-US" sz="2000" b="1">
              <a:latin typeface="Yu Gothic UI Semibold" panose="020B0700000000000000" charset="-128"/>
              <a:ea typeface="Yu Gothic UI Semibold" panose="020B0700000000000000" charset="-128"/>
              <a:sym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6225" y="2806065"/>
            <a:ext cx="6679565" cy="150177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No lane markings, no fixed rules</a:t>
            </a:r>
            <a:r>
              <a:rPr lang="en-IN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:</a:t>
            </a:r>
            <a:r>
              <a:rPr lang="en-US" altLang="en-US" sz="1350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 Indian roads run on negotiated right-of-way (eye contact, honking), which current AV systems can't understand.</a:t>
            </a:r>
            <a:endParaRPr lang="en-US" altLang="en-US" sz="1350">
              <a:solidFill>
                <a:schemeClr val="tx1"/>
              </a:solidFill>
              <a:latin typeface="Arial" panose="020B0604020202020204" pitchFamily="34" charset="0"/>
              <a:ea typeface="Yu Gothic Medium" panose="020B0500000000000000" charset="-128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Heterogeneous traffic</a:t>
            </a:r>
            <a:r>
              <a:rPr lang="en-IN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: </a:t>
            </a:r>
            <a:r>
              <a:rPr lang="en-US" altLang="en-US" sz="1350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cars, two-wheelers, autos, pedestrians, and animals all move differently; </a:t>
            </a: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one-size-fits-all prediction </a:t>
            </a:r>
            <a:r>
              <a:rPr lang="en-US" altLang="en-US" sz="1350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models fail.</a:t>
            </a:r>
            <a:endParaRPr lang="en-US" altLang="en-US" sz="1350">
              <a:solidFill>
                <a:schemeClr val="tx1"/>
              </a:solidFill>
              <a:latin typeface="Arial" panose="020B0604020202020204" pitchFamily="34" charset="0"/>
              <a:ea typeface="Yu Gothic Medium" panose="020B0500000000000000" charset="-128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Dynamic road surface</a:t>
            </a:r>
            <a:r>
              <a:rPr lang="en-IN" altLang="en-US" sz="1350" b="1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: </a:t>
            </a:r>
            <a:r>
              <a:rPr lang="en-US" altLang="en-US" sz="1350">
                <a:solidFill>
                  <a:schemeClr val="tx1"/>
                </a:solidFill>
                <a:latin typeface="Arial" panose="020B0604020202020204" pitchFamily="34" charset="0"/>
                <a:ea typeface="Yu Gothic Medium" panose="020B0500000000000000" charset="-128"/>
                <a:cs typeface="Arial" panose="020B0604020202020204" pitchFamily="34" charset="0"/>
              </a:rPr>
              <a:t>potholes, encroachments, and parked carts constantly change the drivable space in real time, which most systems can't adapt to.</a:t>
            </a:r>
            <a:endParaRPr lang="en-US" altLang="en-US" sz="1350">
              <a:solidFill>
                <a:schemeClr val="tx1"/>
              </a:solidFill>
              <a:latin typeface="Arial" panose="020B0604020202020204" pitchFamily="34" charset="0"/>
              <a:ea typeface="Yu Gothic Medium" panose="020B0500000000000000" charset="-128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76225" y="4303395"/>
            <a:ext cx="6096000" cy="462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000" b="1">
                <a:latin typeface="Yu Gothic UI Semibold" panose="020B0700000000000000" charset="-128"/>
                <a:ea typeface="Yu Gothic UI Semibold" panose="020B0700000000000000" charset="-128"/>
                <a:sym typeface="+mn-ea"/>
              </a:rPr>
              <a:t>Our Approach:</a:t>
            </a:r>
            <a:endParaRPr lang="en-IN" altLang="en-US" sz="2000" b="1">
              <a:latin typeface="Yu Gothic UI Semibold" panose="020B0700000000000000" charset="-128"/>
              <a:ea typeface="Yu Gothic UI Semibold" panose="020B0700000000000000" charset="-128"/>
              <a:sym typeface="+mn-e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7505" y="4687570"/>
            <a:ext cx="6092825" cy="15214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Drivable-area detection</a:t>
            </a:r>
            <a:r>
              <a:rPr lang="en-IN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DeepLabv3+ (ResNet-18) trained on IDD, fused with lane detection + boundary-safety filter.</a:t>
            </a:r>
            <a:endParaRPr lang="en-US" altLang="en-US" sz="13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 detection</a:t>
            </a:r>
            <a:r>
              <a:rPr lang="en-IN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merged with road-surface thresholding into one drivable mask.</a:t>
            </a:r>
            <a:endParaRPr lang="en-US" altLang="en-US" sz="13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planning</a:t>
            </a:r>
            <a:r>
              <a:rPr lang="en-IN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A* search + spline smoothing with safety validation.</a:t>
            </a:r>
            <a:endParaRPr lang="en-US" altLang="en-US" sz="13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loop</a:t>
            </a:r>
            <a:r>
              <a:rPr lang="en-IN" altLang="en-US" sz="13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Simulink vehicle model + Pure Pursuit controller, adaptive speed control.</a:t>
            </a:r>
            <a:endParaRPr lang="en-US" altLang="en-US" sz="13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 descr="WhatsApp Image 2026-09-08 at 7.22.3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385" y="2806065"/>
            <a:ext cx="4603750" cy="3381375"/>
          </a:xfrm>
          <a:prstGeom prst="rect">
            <a:avLst/>
          </a:prstGeom>
        </p:spPr>
      </p:pic>
      <p:pic>
        <p:nvPicPr>
          <p:cNvPr id="24" name="Picture 23" descr="WhatsApp Image 2026-09-09 at 12.45.00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37795"/>
            <a:ext cx="2910840" cy="957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81445"/>
            <a:ext cx="2844800" cy="240030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</a:fld>
            <a:endParaRPr lang="en-US" b="1" dirty="0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54245" y="6504305"/>
            <a:ext cx="3204210" cy="207645"/>
          </a:xfrm>
        </p:spPr>
        <p:txBody>
          <a:bodyPr/>
          <a:lstStyle/>
          <a:p>
            <a:pPr>
              <a:defRPr/>
            </a:pPr>
            <a:r>
              <a:rPr lang="en-IN" altLang="en-US" b="1" dirty="0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SIH</a:t>
            </a:r>
            <a:endParaRPr lang="en-IN" altLang="en-US" b="1" dirty="0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62230" y="81280"/>
            <a:ext cx="1688465" cy="564515"/>
          </a:xfrm>
          <a:prstGeom prst="ellipse">
            <a:avLst/>
          </a:prstGeom>
          <a:noFill/>
          <a:ln w="28575" cmpd="sng">
            <a:solidFill>
              <a:srgbClr val="32323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-2089785" y="156210"/>
            <a:ext cx="7416800" cy="42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400" b="1">
                <a:latin typeface="Tw Cen MT Condensed" panose="020B0606020104020203" charset="0"/>
                <a:cs typeface="Tw Cen MT Condensed" panose="020B0606020104020203" charset="0"/>
                <a:sym typeface="+mn-ea"/>
              </a:rPr>
              <a:t>                                 MargDarshak</a:t>
            </a:r>
            <a:endParaRPr lang="en-IN" altLang="en-US" sz="2400" b="1">
              <a:latin typeface="Tw Cen MT Condensed" panose="020B0606020104020203" charset="0"/>
              <a:cs typeface="Tw Cen MT Condensed" panose="020B0606020104020203" charset="0"/>
              <a:sym typeface="+mn-ea"/>
            </a:endParaRPr>
          </a:p>
        </p:txBody>
      </p:sp>
      <p:pic>
        <p:nvPicPr>
          <p:cNvPr id="9" name="Picture 8" descr="WhatsApp Image 2026-09-09 at 10.52.42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5545"/>
            <a:ext cx="12232640" cy="5180330"/>
          </a:xfrm>
          <a:prstGeom prst="rect">
            <a:avLst/>
          </a:prstGeom>
        </p:spPr>
      </p:pic>
      <p:pic>
        <p:nvPicPr>
          <p:cNvPr id="24" name="Picture 23" descr="WhatsApp Image 2026-09-09 at 12.45.00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37795"/>
            <a:ext cx="2910840" cy="957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494145"/>
            <a:ext cx="12192000" cy="36385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2505" y="6517640"/>
            <a:ext cx="2952750" cy="20383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charset="0"/>
                <a:ea typeface="MS PGothic" panose="020B0600070205080204" pitchFamily="1" charset="-128"/>
                <a:cs typeface="Arial Black" panose="020B0A04020102020204" charset="0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charset="0"/>
              <a:ea typeface="MS PGothic" panose="020B0600070205080204" pitchFamily="1" charset="-128"/>
              <a:cs typeface="Arial Black" panose="020B0A0402010202020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78600"/>
            <a:ext cx="3204210" cy="2006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SIH</a:t>
            </a: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18745" y="81280"/>
            <a:ext cx="1688465" cy="564515"/>
          </a:xfrm>
          <a:prstGeom prst="ellipse">
            <a:avLst/>
          </a:prstGeom>
          <a:noFill/>
          <a:ln w="28575" cmpd="sng">
            <a:solidFill>
              <a:srgbClr val="32323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-171450" y="121285"/>
            <a:ext cx="6529070" cy="585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400" b="1">
                <a:latin typeface="Tw Cen MT Condensed" panose="020B0606020104020203" charset="0"/>
                <a:cs typeface="Tw Cen MT Condensed" panose="020B0606020104020203" charset="0"/>
                <a:sym typeface="+mn-ea"/>
              </a:rPr>
              <a:t>     MargDarshak</a:t>
            </a:r>
            <a:endParaRPr lang="en-IN" altLang="en-US" sz="2400" b="1">
              <a:latin typeface="Tw Cen MT Condensed" panose="020B0606020104020203" charset="0"/>
              <a:cs typeface="Tw Cen MT Condensed" panose="020B0606020104020203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2900" y="907415"/>
            <a:ext cx="5560695" cy="850900"/>
          </a:xfrm>
          <a:prstGeom prst="rect">
            <a:avLst/>
          </a:prstGeom>
        </p:spPr>
        <p:txBody>
          <a:bodyPr>
            <a:noAutofit/>
          </a:bodyPr>
          <a:p>
            <a:r>
              <a:rPr sz="2000" b="1">
                <a:solidFill>
                  <a:srgbClr val="000000"/>
                </a:solidFill>
                <a:latin typeface="Arial Rounded MT Bold" panose="020F0704030504030204" charset="0"/>
                <a:ea typeface="Arial-BoldMT"/>
                <a:cs typeface="Arial Rounded MT Bold" panose="020F0704030504030204" charset="0"/>
              </a:rPr>
              <a:t>FEASIBILITY</a:t>
            </a:r>
            <a:r>
              <a:rPr sz="2000" b="1">
                <a:solidFill>
                  <a:srgbClr val="000000"/>
                </a:solidFill>
                <a:latin typeface="Arial-BoldMT"/>
                <a:ea typeface="Arial-BoldMT"/>
              </a:rPr>
              <a:t>:</a:t>
            </a:r>
            <a:endParaRPr sz="2000" b="1">
              <a:solidFill>
                <a:srgbClr val="000000"/>
              </a:solidFill>
              <a:latin typeface="Arial-BoldMT"/>
              <a:ea typeface="Arial-BoldMT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2900" y="1315720"/>
            <a:ext cx="11366500" cy="1682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Proven AI Integration: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Uses a DeepLabv3+ ResNet-18 model trained on real Indian road images (IDD dataset) achieving 96.9% accuracy for rapid deployment.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Modular &amp; Scalable: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Combines classical lane detection, learned segmentation, A* path planning, and Simulink control loop, letting each module be upgraded or replaced independently. 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Built entirely in MATLAB/Simulink and RoadRunner, requiring no extra external hardware or internet connectivity.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09600" y="3128645"/>
            <a:ext cx="3572510" cy="323850"/>
          </a:xfrm>
          <a:prstGeom prst="rect">
            <a:avLst/>
          </a:prstGeom>
        </p:spPr>
        <p:txBody>
          <a:bodyPr>
            <a:noAutofit/>
          </a:bodyPr>
          <a:p>
            <a:r>
              <a:rPr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POTENTIAL</a:t>
            </a:r>
            <a:r>
              <a:rPr lang="en-IN"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 </a:t>
            </a:r>
            <a:r>
              <a:rPr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CHALLENGE</a:t>
            </a:r>
            <a:r>
              <a:rPr lang="en-IN"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 &amp;</a:t>
            </a:r>
            <a:r>
              <a:rPr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RISK:</a:t>
            </a:r>
            <a:endParaRPr sz="1600" b="1">
              <a:solidFill>
                <a:srgbClr val="000000"/>
              </a:solidFill>
              <a:latin typeface="Arial Rounded MT Bold" panose="020F0704030504030204" charset="0"/>
              <a:ea typeface="LeagueSpartan-Bold"/>
              <a:cs typeface="Arial Rounded MT Bold" panose="020F07040305040302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803900" y="3115310"/>
            <a:ext cx="5080000" cy="400685"/>
          </a:xfrm>
          <a:prstGeom prst="rect">
            <a:avLst/>
          </a:prstGeom>
        </p:spPr>
        <p:txBody>
          <a:bodyPr>
            <a:noAutofit/>
          </a:bodyPr>
          <a:p>
            <a:r>
              <a:rPr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STRATEGIES</a:t>
            </a:r>
            <a:r>
              <a:rPr lang="en-IN"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 </a:t>
            </a:r>
            <a:r>
              <a:rPr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TO</a:t>
            </a:r>
            <a:r>
              <a:rPr lang="en-IN"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 </a:t>
            </a:r>
            <a:r>
              <a:rPr sz="1600" b="1">
                <a:solidFill>
                  <a:srgbClr val="000000"/>
                </a:solidFill>
                <a:latin typeface="Arial Rounded MT Bold" panose="020F0704030504030204" charset="0"/>
                <a:ea typeface="LeagueSpartan-Bold"/>
                <a:cs typeface="Arial Rounded MT Bold" panose="020F0704030504030204" charset="0"/>
              </a:rPr>
              <a:t>OVERCOME:</a:t>
            </a:r>
            <a:endParaRPr sz="1600" b="1">
              <a:solidFill>
                <a:srgbClr val="000000"/>
              </a:solidFill>
              <a:latin typeface="Arial Rounded MT Bold" panose="020F0704030504030204" charset="0"/>
              <a:ea typeface="LeagueSpartan-Bold"/>
              <a:cs typeface="Arial Rounded MT Bold" panose="020F070403050403020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3151505"/>
            <a:ext cx="269875" cy="2698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9600" y="3573780"/>
            <a:ext cx="4465955" cy="124523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10" y="3161030"/>
            <a:ext cx="313690" cy="287655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593725" y="3696970"/>
            <a:ext cx="6271895" cy="1036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Sim-to-Real Camera Parameter Mismatch Risk </a:t>
            </a:r>
            <a:endParaRPr lang="en-US" altLang="en-US" sz="1600" b="1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Small Dataset</a:t>
            </a:r>
            <a:r>
              <a:rPr lang="en-IN" altLang="en-US" sz="1600" b="1"/>
              <a:t>.</a:t>
            </a:r>
            <a:endParaRPr lang="en-US" altLang="en-US" sz="1600" b="1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Merging classical and learned detection</a:t>
            </a:r>
            <a:r>
              <a:rPr lang="en-IN" altLang="en-US" sz="1600" b="1"/>
              <a:t>.</a:t>
            </a:r>
            <a:endParaRPr lang="en-IN" altLang="en-US" sz="1600" b="1"/>
          </a:p>
        </p:txBody>
      </p:sp>
      <p:sp>
        <p:nvSpPr>
          <p:cNvPr id="21" name="Rounded Rectangle 20"/>
          <p:cNvSpPr/>
          <p:nvPr/>
        </p:nvSpPr>
        <p:spPr>
          <a:xfrm>
            <a:off x="5377180" y="3586480"/>
            <a:ext cx="6312535" cy="128968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572125" y="3632200"/>
            <a:ext cx="6137275" cy="986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Explicitly matching RoadRunner camera settings to MATLAB monoCamera parameters. </a:t>
            </a:r>
            <a:endParaRPr lang="en-US" alt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Collapsing seven classes into binary road/not-road to maximize training examples. </a:t>
            </a:r>
            <a:endParaRPr lang="en-US" alt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Building a crossing-boundary-pairs safety filter to reject invalid, contradictory boundary detections.</a:t>
            </a:r>
            <a:r>
              <a:rPr lang="en-US" altLang="en-US" b="1"/>
              <a:t> </a:t>
            </a:r>
            <a:endParaRPr lang="en-US" b="1"/>
          </a:p>
        </p:txBody>
      </p:sp>
      <p:sp>
        <p:nvSpPr>
          <p:cNvPr id="23" name="Rounded Rectangle 22"/>
          <p:cNvSpPr/>
          <p:nvPr/>
        </p:nvSpPr>
        <p:spPr>
          <a:xfrm>
            <a:off x="593725" y="5013960"/>
            <a:ext cx="11095355" cy="12890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lnSpc>
                <a:spcPct val="130000"/>
              </a:lnSpc>
            </a:pPr>
            <a:r>
              <a:rPr lang="en-IN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Viability</a:t>
            </a:r>
            <a:r>
              <a:rPr lang="en-IN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 the current A* planner into the full Frenet lattice architecture for smoother production-grade planning.</a:t>
            </a:r>
            <a:endParaRPr lang="en-US" altLang="en-US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from static test frames to full live real-time RoadRunner-Simulink co-simulation.</a:t>
            </a:r>
            <a:endParaRPr lang="en-US" altLang="en-US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Retrain the segmentation network on larger, diverse Indian road datasets over time.</a:t>
            </a:r>
            <a:endParaRPr lang="en-US" altLang="en-US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 descr="WhatsApp Image 2026-09-09 at 12.45.00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830" y="188595"/>
            <a:ext cx="2757170" cy="906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569075"/>
            <a:ext cx="12192000" cy="2889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940438"/>
            <a:ext cx="9385300" cy="5372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altLang="en-US" sz="2900" dirty="0">
                <a:solidFill>
                  <a:prstClr val="black"/>
                </a:solidFill>
                <a:latin typeface="Impact" panose="020B0806030902050204" charset="0"/>
                <a:cs typeface="Impact" panose="020B0806030902050204" charset="0"/>
              </a:rPr>
              <a:t> IMPACT:</a:t>
            </a:r>
            <a:endParaRPr lang="en-IN" altLang="en-US" sz="2900" dirty="0">
              <a:solidFill>
                <a:prstClr val="black"/>
              </a:solidFill>
              <a:latin typeface="Impact" panose="020B0806030902050204" charset="0"/>
              <a:cs typeface="Impact" panose="020B08060309020502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3680" y="6356350"/>
            <a:ext cx="3620135" cy="71120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charset="0"/>
                <a:ea typeface="MS PGothic" panose="020B0600070205080204" pitchFamily="1" charset="-128"/>
                <a:cs typeface="Arial Black" panose="020B0A04020102020204" charset="0"/>
              </a:rPr>
              <a:t>5</a:t>
            </a:r>
            <a:endParaRPr kumimoji="0" lang="en-I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charset="0"/>
              <a:ea typeface="MS PGothic" panose="020B0600070205080204" pitchFamily="1" charset="-128"/>
              <a:cs typeface="Arial Black" panose="020B0A0402010202020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20395" y="6356350"/>
            <a:ext cx="11197590" cy="70929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SIH        </a:t>
            </a: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18745" y="81280"/>
            <a:ext cx="1688465" cy="564515"/>
          </a:xfrm>
          <a:prstGeom prst="ellipse">
            <a:avLst/>
          </a:prstGeom>
          <a:noFill/>
          <a:ln w="28575" cmpd="sng">
            <a:solidFill>
              <a:srgbClr val="32323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43510" y="127000"/>
            <a:ext cx="6177915" cy="518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400" b="1">
                <a:latin typeface="Tw Cen MT Condensed" panose="020B0606020104020203" charset="0"/>
                <a:cs typeface="Tw Cen MT Condensed" panose="020B0606020104020203" charset="0"/>
                <a:sym typeface="+mn-ea"/>
              </a:rPr>
              <a:t>MargDarshak</a:t>
            </a:r>
            <a:endParaRPr lang="en-IN" altLang="en-US" sz="2400" b="1">
              <a:latin typeface="Tw Cen MT Condensed" panose="020B0606020104020203" charset="0"/>
              <a:cs typeface="Tw Cen MT Condensed" panose="020B0606020104020203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44145" y="1468755"/>
            <a:ext cx="7207885" cy="2067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700" b="1"/>
              <a:t>Social:</a:t>
            </a:r>
            <a:r>
              <a:rPr lang="en-US" altLang="en-US" sz="1600" b="1"/>
              <a:t> Helps reduce India's ~1.7 lakh annual road deaths by making vehicles safer on chaotic, unmarked roads.</a:t>
            </a:r>
            <a:endParaRPr lang="en-US" altLang="en-US" sz="16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700" b="1"/>
              <a:t>Economic:</a:t>
            </a:r>
            <a:r>
              <a:rPr lang="en-US" altLang="en-US" sz="1600" b="1"/>
              <a:t> Builds India's own AV/robotics industry instead of relying on foreign tech that doesn't suit Indian roads.</a:t>
            </a:r>
            <a:endParaRPr lang="en-US" altLang="en-US" sz="16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700" b="1"/>
              <a:t>Environmental:</a:t>
            </a:r>
            <a:r>
              <a:rPr lang="en-US" altLang="en-US" sz="1600" b="1"/>
              <a:t> Smoother driving means less braking and accelerating, cutting fuel use and emissions.</a:t>
            </a:r>
            <a:endParaRPr lang="en-US" altLang="en-US" sz="1600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700" b="1"/>
              <a:t>Lives Saved:</a:t>
            </a:r>
            <a:r>
              <a:rPr lang="en-US" altLang="en-US" sz="1600" b="1"/>
              <a:t> Prevent hundreds of two-wheeler and pedestrian deaths annually on unmarked, mixed-traffic roads.</a:t>
            </a:r>
            <a:endParaRPr lang="en-US" altLang="en-US" sz="1600" b="1"/>
          </a:p>
        </p:txBody>
      </p:sp>
      <p:sp>
        <p:nvSpPr>
          <p:cNvPr id="11" name="Rounded Rectangle 10"/>
          <p:cNvSpPr/>
          <p:nvPr/>
        </p:nvSpPr>
        <p:spPr>
          <a:xfrm>
            <a:off x="819150" y="1477645"/>
            <a:ext cx="7033260" cy="209486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02235" y="3613150"/>
            <a:ext cx="6400165" cy="454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altLang="en-US" sz="2900" dirty="0">
                <a:solidFill>
                  <a:prstClr val="black"/>
                </a:solidFill>
                <a:latin typeface="Impact" panose="020B0806030902050204" charset="0"/>
                <a:cs typeface="Impact" panose="020B0806030902050204" charset="0"/>
                <a:sym typeface="+mn-ea"/>
              </a:rPr>
              <a:t>BENEFITS:</a:t>
            </a:r>
            <a:endParaRPr lang="en-IN" altLang="en-US" sz="2900" dirty="0">
              <a:solidFill>
                <a:prstClr val="black"/>
              </a:solidFill>
              <a:latin typeface="Impact" panose="020B0806030902050204" charset="0"/>
              <a:cs typeface="Impact" panose="020B0806030902050204" charset="0"/>
              <a:sym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82880" y="4266565"/>
            <a:ext cx="7168515" cy="19119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182880" y="4144645"/>
            <a:ext cx="7249795" cy="1983740"/>
          </a:xfrm>
          <a:prstGeom prst="rect">
            <a:avLst/>
          </a:prstGeom>
        </p:spPr>
        <p:txBody>
          <a:bodyPr>
            <a:noAutofit/>
          </a:bodyPr>
          <a:p>
            <a:endParaRPr sz="1600"/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No Lane Markings Needed: Detects drivable area directly from the road.</a:t>
            </a:r>
            <a:endParaRPr lang="en-US" altLang="en-US" sz="1600" b="1"/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Filters Unsafe Paths: Rejects confusing road boundaries before planning.</a:t>
            </a:r>
            <a:endParaRPr lang="en-US" altLang="en-US" sz="1600" b="1"/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Real-Time Obstacle Avoidance: Updates path instantly around pedestrians &amp; vehicles.</a:t>
            </a:r>
            <a:endParaRPr lang="en-US" altLang="en-US" sz="1600" b="1"/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Smart Speed Control: Auto-slows on unmarked or unpredictable stretches.</a:t>
            </a:r>
            <a:endParaRPr lang="en-US" altLang="en-US" sz="1600" b="1"/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/>
              <a:t>Tested End-to-End: Perception, planning &amp; control validated together.</a:t>
            </a:r>
            <a:endParaRPr lang="en-US" altLang="en-US" sz="1600" b="1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0" y="1533525"/>
            <a:ext cx="3976370" cy="1928495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50" y="4144645"/>
            <a:ext cx="3538220" cy="1972945"/>
          </a:xfrm>
          <a:prstGeom prst="rect">
            <a:avLst/>
          </a:prstGeom>
          <a:ln w="38100"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0"/>
            </a:gradFill>
          </a:ln>
        </p:spPr>
      </p:pic>
      <p:pic>
        <p:nvPicPr>
          <p:cNvPr id="24" name="Picture 23" descr="WhatsApp Image 2026-09-09 at 12.45.00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7795"/>
            <a:ext cx="2910840" cy="957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477000"/>
            <a:ext cx="12192000" cy="381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44980" y="914400"/>
            <a:ext cx="2301875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Heavy" panose="020B0903020102020204" charset="0"/>
                <a:ea typeface="MS PGothic" panose="020B0600070205080204" pitchFamily="1" charset="-128"/>
                <a:cs typeface="Franklin Gothic Heavy" panose="020B0903020102020204" charset="0"/>
              </a:rPr>
              <a:t>RESEARCH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Heavy" panose="020B0903020102020204" charset="0"/>
              <a:ea typeface="MS PGothic" panose="020B0600070205080204" pitchFamily="1" charset="-128"/>
              <a:cs typeface="Franklin Gothic Heavy" panose="020B09030201020202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02400"/>
            <a:ext cx="2844800" cy="21907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Heavy" panose="020B0903020102020204" charset="0"/>
                <a:ea typeface="MS PGothic" panose="020B0600070205080204" pitchFamily="1" charset="-128"/>
                <a:cs typeface="Franklin Gothic Heavy" panose="020B0903020102020204" charset="0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ranklin Gothic Heavy" panose="020B0903020102020204" charset="0"/>
              <a:ea typeface="MS PGothic" panose="020B0600070205080204" pitchFamily="1" charset="-128"/>
              <a:cs typeface="Franklin Gothic Heavy" panose="020B090302010202020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8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SIH</a:t>
            </a: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18745" y="81280"/>
            <a:ext cx="1688465" cy="564515"/>
          </a:xfrm>
          <a:prstGeom prst="ellipse">
            <a:avLst/>
          </a:prstGeom>
          <a:noFill/>
          <a:ln w="28575" cmpd="sng">
            <a:solidFill>
              <a:srgbClr val="32323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49225" y="116840"/>
            <a:ext cx="6171565" cy="528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2400" b="1">
                <a:latin typeface="Tw Cen MT Condensed" panose="020B0606020104020203" charset="0"/>
                <a:cs typeface="Tw Cen MT Condensed" panose="020B0606020104020203" charset="0"/>
                <a:sym typeface="+mn-ea"/>
              </a:rPr>
              <a:t>MargDarshak</a:t>
            </a:r>
            <a:endParaRPr lang="en-IN" altLang="en-US" sz="2400" b="1">
              <a:latin typeface="Tw Cen MT Condensed" panose="020B0606020104020203" charset="0"/>
              <a:cs typeface="Tw Cen MT Condensed" panose="020B0606020104020203" charset="0"/>
              <a:sym typeface="+mn-ea"/>
            </a:endParaRPr>
          </a:p>
        </p:txBody>
      </p:sp>
      <p:sp>
        <p:nvSpPr>
          <p:cNvPr id="4" name="Top Corners Rounded Rectangle 3"/>
          <p:cNvSpPr/>
          <p:nvPr/>
        </p:nvSpPr>
        <p:spPr>
          <a:xfrm>
            <a:off x="611505" y="1539240"/>
            <a:ext cx="5420995" cy="4192905"/>
          </a:xfrm>
          <a:prstGeom prst="round2Same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35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AEB cuts crashes by 43%</a:t>
            </a: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IIHS study</a:t>
            </a:r>
            <a:r>
              <a:rPr lang="en-IN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43% fewer rear-end crashes, 64% fewer injury crashes.</a:t>
            </a:r>
            <a:endParaRPr lang="en-US" altLang="en-US" sz="13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35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Pedestrian AEB cuts risk by 25–27%</a:t>
            </a: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Real-world crash data shows significant drop in pedestrian crash &amp; injury risk.</a:t>
            </a:r>
            <a:endParaRPr lang="en-US" altLang="en-US" sz="13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135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ndia-specific models perform better</a:t>
            </a: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IndiVNet (2025) hits 69.98% mIoU on Indian roads, beating Western-trained models.</a:t>
            </a:r>
            <a:endParaRPr lang="en-US" altLang="en-US" sz="13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35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Vulnerable users hit </a:t>
            </a:r>
            <a:r>
              <a:rPr lang="en-US" altLang="en-US" sz="135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hardest</a:t>
            </a:r>
            <a:r>
              <a:rPr lang="en-US" altLang="en-US" sz="13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Two-wheelers &amp; pedestrians make up most of India's ~1.72 lakh annual road deaths.</a:t>
            </a:r>
            <a:endParaRPr lang="en-US" altLang="en-US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solutions:</a:t>
            </a:r>
            <a:endParaRPr lang="en-US" altLang="en-US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2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Minus Zero</a:t>
            </a: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Vision-based, handles unmarked roads</a:t>
            </a:r>
            <a:r>
              <a:rPr lang="en-IN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still needs a safety driver.</a:t>
            </a:r>
            <a:endParaRPr lang="en-US" altLang="en-US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2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 Auto</a:t>
            </a: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Autonomous trucking</a:t>
            </a:r>
            <a:r>
              <a:rPr lang="en-IN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to highways only.</a:t>
            </a:r>
            <a:endParaRPr lang="en-US" altLang="en-US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2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Swaayatt Robots</a:t>
            </a: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Research-stage</a:t>
            </a:r>
            <a:r>
              <a:rPr lang="en-IN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Level-5 autonomy, not deployed.</a:t>
            </a:r>
            <a:endParaRPr lang="en-US" altLang="en-US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216775" y="914400"/>
            <a:ext cx="6096000" cy="549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Heavy" panose="020B0903020102020204" charset="0"/>
                <a:cs typeface="Franklin Gothic Heavy" panose="020B0903020102020204" charset="0"/>
                <a:sym typeface="+mn-ea"/>
              </a:rPr>
              <a:t>   </a:t>
            </a:r>
            <a:r>
              <a:rPr lang="en-US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Heavy" panose="020B0903020102020204" charset="0"/>
                <a:cs typeface="Franklin Gothic Heavy" panose="020B0903020102020204" charset="0"/>
                <a:sym typeface="+mn-ea"/>
              </a:rPr>
              <a:t>RE</a:t>
            </a:r>
            <a:r>
              <a:rPr lang="en-IN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Heavy" panose="020B0903020102020204" charset="0"/>
                <a:cs typeface="Franklin Gothic Heavy" panose="020B0903020102020204" charset="0"/>
                <a:sym typeface="+mn-ea"/>
              </a:rPr>
              <a:t>FERENCES</a:t>
            </a:r>
            <a:endParaRPr lang="en-US" altLang="en-US" sz="28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Heavy" panose="020B0903020102020204" charset="0"/>
              <a:cs typeface="Franklin Gothic Heavy" panose="020B0903020102020204" charset="0"/>
              <a:sym typeface="+mn-ea"/>
            </a:endParaRPr>
          </a:p>
        </p:txBody>
      </p:sp>
      <p:sp>
        <p:nvSpPr>
          <p:cNvPr id="13" name="Top Corners Rounded Rectangle 12"/>
          <p:cNvSpPr/>
          <p:nvPr/>
        </p:nvSpPr>
        <p:spPr>
          <a:xfrm>
            <a:off x="6472555" y="1543685"/>
            <a:ext cx="5426075" cy="4188460"/>
          </a:xfrm>
          <a:prstGeom prst="round2Same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Indian Driving Dataset (IDD Lite), IIIT Hyderabad</a:t>
            </a:r>
            <a:endParaRPr lang="en-US" altLang="en-US" sz="1600" b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 u="sng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https://idd.insaan.iiit.ac.in/</a:t>
            </a:r>
            <a:endParaRPr lang="en-US" altLang="en-US" sz="1600" b="1" u="sng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DeepLabv3+ (ResNet 18 backbone), MATLAB Deep Learning Toolbox</a:t>
            </a:r>
            <a:endParaRPr lang="en-US" altLang="en-US" sz="1600" b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 u="sng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https://www.mathworks.com/help/vision/ref/deeplabv3plus.html</a:t>
            </a:r>
            <a:endParaRPr lang="en-US" altLang="en-US" sz="1600" b="1" u="sng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YOLOv8, Ultralytics</a:t>
            </a:r>
            <a:endParaRPr lang="en-US" altLang="en-US" sz="1600" b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 u="sng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https://github.com/ultralytics/ultralytics</a:t>
            </a:r>
            <a:endParaRPr lang="en-US" altLang="en-US" sz="1600" b="1" u="sng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Hart, Nilsson &amp; Raphael (1968), A Formal Basis for the Heuristic Determination of Minimum Cost Paths, IEEE Transactions on Systems Science and Cybernetics</a:t>
            </a:r>
            <a:endParaRPr lang="en-US" altLang="en-US" sz="1600" b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MATLAB Navigation Toolbox (occupancyMap, plannerAStarGrid)</a:t>
            </a:r>
            <a:endParaRPr lang="en-US" altLang="en-US" sz="1600" b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en-US" sz="1600" b="1" u="sng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</a:rPr>
              <a:t>https://www.mathworks.com/products/navigation.html</a:t>
            </a:r>
            <a:endParaRPr lang="en-US" altLang="en-US" sz="1600" b="1" u="sng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pic>
        <p:nvPicPr>
          <p:cNvPr id="17" name="Picture 16" descr="link_icon_transpar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0" y="1278255"/>
            <a:ext cx="1092200" cy="1001395"/>
          </a:xfrm>
          <a:prstGeom prst="rect">
            <a:avLst/>
          </a:prstGeom>
        </p:spPr>
      </p:pic>
      <p:pic>
        <p:nvPicPr>
          <p:cNvPr id="19" name="Picture 18" descr="link_icon_transpar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85" y="1220470"/>
            <a:ext cx="1092200" cy="1001395"/>
          </a:xfrm>
          <a:prstGeom prst="rect">
            <a:avLst/>
          </a:prstGeom>
        </p:spPr>
      </p:pic>
      <p:pic>
        <p:nvPicPr>
          <p:cNvPr id="24" name="Picture 23" descr="WhatsApp Image 2026-09-09 at 12.45.00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555" y="137795"/>
            <a:ext cx="2671445" cy="878840"/>
          </a:xfrm>
          <a:prstGeom prst="rect">
            <a:avLst/>
          </a:prstGeom>
        </p:spPr>
      </p:pic>
      <p:sp>
        <p:nvSpPr>
          <p:cNvPr id="20" name="Diagonal Corners Rounded Rectangle 19"/>
          <p:cNvSpPr/>
          <p:nvPr/>
        </p:nvSpPr>
        <p:spPr>
          <a:xfrm>
            <a:off x="1901825" y="5906770"/>
            <a:ext cx="8871585" cy="39497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IN" altLang="en-US" sz="1400" b="1" u="sng">
                <a:solidFill>
                  <a:schemeClr val="tx1"/>
                </a:solidFill>
              </a:rPr>
              <a:t> Our Prototype: </a:t>
            </a:r>
            <a:r>
              <a:rPr lang="en-US" altLang="en-US" sz="1400" b="1" u="sng">
                <a:solidFill>
                  <a:schemeClr val="tx1"/>
                </a:solidFill>
              </a:rPr>
              <a:t>https://drive.google.com/drive/folders/12TVsPDQTXlqoxHVN5NpC-rVuWhECY4m5?usp=sharing</a:t>
            </a:r>
            <a:endParaRPr lang="en-US" altLang="en-US" sz="1400" b="1" u="sng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5188</Words>
  <Application>WPS Presentation</Application>
  <PresentationFormat>Widescreen</PresentationFormat>
  <Paragraphs>132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3" baseType="lpstr">
      <vt:lpstr>Arial</vt:lpstr>
      <vt:lpstr>SimSun</vt:lpstr>
      <vt:lpstr>Wingdings</vt:lpstr>
      <vt:lpstr>Calibri</vt:lpstr>
      <vt:lpstr>MS PGothic</vt:lpstr>
      <vt:lpstr>TradeGothic</vt:lpstr>
      <vt:lpstr>AMGDT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Algerian</vt:lpstr>
      <vt:lpstr>Arial Black</vt:lpstr>
      <vt:lpstr>Britannic Bold</vt:lpstr>
      <vt:lpstr>Bernard MT Condensed</vt:lpstr>
      <vt:lpstr>Artifakt Element Heavy</vt:lpstr>
      <vt:lpstr>Bauhaus 93</vt:lpstr>
      <vt:lpstr>Bodoni MT Poster Compressed</vt:lpstr>
      <vt:lpstr>Franklin Gothic Heavy</vt:lpstr>
      <vt:lpstr>Gadugi</vt:lpstr>
      <vt:lpstr>Haettenschweiler</vt:lpstr>
      <vt:lpstr>Yu Gothic UI Semibold</vt:lpstr>
      <vt:lpstr>Vivaldi</vt:lpstr>
      <vt:lpstr>Gill Sans MT</vt:lpstr>
      <vt:lpstr>Gill Sans MT Condensed</vt:lpstr>
      <vt:lpstr>Franklin Gothic Book</vt:lpstr>
      <vt:lpstr>Century</vt:lpstr>
      <vt:lpstr>Tw Cen MT Condensed</vt:lpstr>
      <vt:lpstr>Impact</vt:lpstr>
      <vt:lpstr>Ebrima</vt:lpstr>
      <vt:lpstr>UniversalMath1 BT</vt:lpstr>
      <vt:lpstr>Vladimir Script</vt:lpstr>
      <vt:lpstr>Sitka Heading</vt:lpstr>
      <vt:lpstr>Segoe UI Variable Small</vt:lpstr>
      <vt:lpstr>Microsoft PhagsPa</vt:lpstr>
      <vt:lpstr>Franklin Gothic Medium</vt:lpstr>
      <vt:lpstr>Franklin Gothic Demi</vt:lpstr>
      <vt:lpstr>Microsoft Sans Serif</vt:lpstr>
      <vt:lpstr>Microsoft Tai Le</vt:lpstr>
      <vt:lpstr>Segoe UI Semibold</vt:lpstr>
      <vt:lpstr>Segoe UI Semilight</vt:lpstr>
      <vt:lpstr>Segoe UI Symbol</vt:lpstr>
      <vt:lpstr>Segoe UI Emoji</vt:lpstr>
      <vt:lpstr>Segoe UI Light</vt:lpstr>
      <vt:lpstr>Segoe UI Variable Display</vt:lpstr>
      <vt:lpstr>Yu Gothic Medium</vt:lpstr>
      <vt:lpstr>Artifakt Element Light</vt:lpstr>
      <vt:lpstr>Artifakt Element Black</vt:lpstr>
      <vt:lpstr>Artifakt Element</vt:lpstr>
      <vt:lpstr>Bodoni MT Black</vt:lpstr>
      <vt:lpstr>Bell MT</vt:lpstr>
      <vt:lpstr>Bodoni MT Condensed</vt:lpstr>
      <vt:lpstr>Gill Sans Ultra Bold Condensed</vt:lpstr>
      <vt:lpstr>Dubai Medium</vt:lpstr>
      <vt:lpstr>Elephant</vt:lpstr>
      <vt:lpstr>CanvaSans-Bold</vt:lpstr>
      <vt:lpstr>Harrington</vt:lpstr>
      <vt:lpstr>Imprint MT Shadow</vt:lpstr>
      <vt:lpstr>Eras Demi ITC</vt:lpstr>
      <vt:lpstr>Arial Narrow</vt:lpstr>
      <vt:lpstr>Arial-BoldMT</vt:lpstr>
      <vt:lpstr>Arial Rounded MT Bold</vt:lpstr>
      <vt:lpstr>LeagueSpartan-Bold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Vidhathri Locula</cp:lastModifiedBy>
  <cp:revision>147</cp:revision>
  <dcterms:created xsi:type="dcterms:W3CDTF">2013-12-12T18:46:00Z</dcterms:created>
  <dcterms:modified xsi:type="dcterms:W3CDTF">2026-09-09T07:31:04Z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2C12A7CD65E44E959FE284297C0A2E73_13</vt:lpwstr>
  </property>
  <property fmtid="{D5CDD505-2E9C-101B-9397-08002B2CF9AE}" pid="3" name="KSOProductBuildVer">
    <vt:lpwstr>1033-12.1.0.28032</vt:lpwstr>
  </property>
</Properties>
</file>